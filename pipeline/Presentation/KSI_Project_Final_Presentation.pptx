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Non-fatal</c:v>
                </c:pt>
              </c:strCache>
            </c:strRef>
          </c:tx>
          <c:spPr>
            <a:solidFill>
              <a:srgbClr val="2671B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Class distribution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85.91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FF4-394F-A3AD-4933286EF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CD484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Class distribution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14.09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FF4-394F-A3AD-4933286EF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671BE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Linear SVM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MLP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0.64800000000000002</c:v>
                </c:pt>
                <c:pt idx="1">
                  <c:v>0.64800000000000002</c:v>
                </c:pt>
                <c:pt idx="2">
                  <c:v>0.63500000000000001</c:v>
                </c:pt>
                <c:pt idx="3">
                  <c:v>0.53600000000000003</c:v>
                </c:pt>
                <c:pt idx="4">
                  <c:v>0.33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AA-7841-8E2B-6966F2CB2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C8C39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Linear SVM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MLP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0.36699999999999999</c:v>
                </c:pt>
                <c:pt idx="1">
                  <c:v>0.36599999999999999</c:v>
                </c:pt>
                <c:pt idx="2">
                  <c:v>0.39400000000000002</c:v>
                </c:pt>
                <c:pt idx="3">
                  <c:v>0.38200000000000001</c:v>
                </c:pt>
                <c:pt idx="4">
                  <c:v>0.40400000000000003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6AA-7841-8E2B-6966F2CB2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/>
        <c:numFmt formatCode="0.0%" sourceLinked="0"/>
        <c:majorTickMark val="out"/>
        <c:minorTickMark val="none"/>
        <c:tickLblPos val="nextTo"/>
        <c:crossAx val="-2068027336"/>
        <c:crosses val="autoZero"/>
        <c:crossBetween val="between"/>
        <c:majorUnit val="0.1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14867-857F-2B4A-8B9D-7260F02E571E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6F735-5024-DC41-A029-13FA04CA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0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dataset, target, five-model comparison, and final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accuracy can be misleading with an 86/14 class split. Recall is the safety-focused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this as a strength of the project: the team discovered leakage, fixed it, and reported honest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most important results slide. Logistic Regression and Linear SVM tie on recall; Logistic wins slightly on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preprocessing and the classifier are saved together, reducing train/serve inconsistency.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transparent: per-person rows are the main structural limitation and per-collision aggregation is a strong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KSI Fatal Collision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7BED2"/>
                </a:solidFill>
              </a:defRPr>
            </a:pPr>
            <a:r>
              <a:t>Predicting fatal outcomes in Toronto traffic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BE4EF"/>
                </a:solidFill>
              </a:defRPr>
            </a:pPr>
            <a:r>
              <a:t>COMP 247 •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4EF"/>
                </a:solidFill>
              </a:defRPr>
            </a:pPr>
            <a:r>
              <a:t>Group #8, Section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4EF"/>
                </a:solidFill>
              </a:defRPr>
            </a:pPr>
            <a:r>
              <a:t>Ali • Aboud • Ibrahim • Aidan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4297680"/>
            <a:ext cx="822960" cy="822960"/>
          </a:xfrm>
          <a:prstGeom prst="ellipse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4526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E4EF"/>
                </a:solidFill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7909560" y="4297680"/>
            <a:ext cx="822960" cy="822960"/>
          </a:xfrm>
          <a:prstGeom prst="ellipse">
            <a:avLst/>
          </a:prstGeom>
          <a:solidFill>
            <a:srgbClr val="1D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4526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E4EF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4297680"/>
            <a:ext cx="822960" cy="822960"/>
          </a:xfrm>
          <a:prstGeom prst="ellipse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4526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BE4EF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10195560" y="4297680"/>
            <a:ext cx="822960" cy="822960"/>
          </a:xfrm>
          <a:prstGeom prst="ellipse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From raw collision records to a deployable fatality-risk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18,957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" y="291236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Toronto Police KSI</a:t>
            </a:r>
            <a:br>
              <a:rPr dirty="0"/>
            </a:br>
            <a:r>
              <a:rPr dirty="0"/>
              <a:t>2006–2023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73152" cy="182880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190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4848"/>
                </a:solidFill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14.09% fatal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249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Binary classification:</a:t>
            </a:r>
            <a:br/>
            <a:r>
              <a:t>Fatal vs. non-fatal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73152" cy="182880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7190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Model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5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249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Logistic Regression, SVM, Decision Tree, Random Forest, MLP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5544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554480"/>
            <a:ext cx="73152" cy="182880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719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Winner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48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Logistic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2580" y="29155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Selected by fatal-class recall after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037"/>
                </a:solidFill>
              </a:defRPr>
            </a:pPr>
            <a:r>
              <a:t>Core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B36"/>
                </a:solidFill>
              </a:defRPr>
            </a:pPr>
            <a:r>
              <a:t>Can collision conditions help identify records that are more likely to be associated with a fatal outcome?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Why Recall Matters More Than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The dataset is imbalanced: about 86% of labelled records are non-fatal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55778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600200"/>
            <a:ext cx="4663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20840" y="1600200"/>
            <a:ext cx="73152" cy="118872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764792"/>
            <a:ext cx="4251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Accuracy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40280"/>
            <a:ext cx="4251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A model can look strong by mostly predicting the majority non-fatal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971800"/>
            <a:ext cx="4663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2971800"/>
            <a:ext cx="73152" cy="118872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3136392"/>
            <a:ext cx="4251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Recall asks the right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611880"/>
            <a:ext cx="4251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Of all real fatal cases, how many did the model catch?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F2037"/>
                </a:solidFill>
              </a:defRPr>
            </a:pPr>
            <a:r>
              <a:t>Selection rule: prioritize fatal-class recall, then use F1 / precision / ROC-AUC to understand the trade-off.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BE4EF"/>
                </a:solidFill>
              </a:defRPr>
            </a:pPr>
            <a:r>
              <a:t>A consistent pipeline from preprocessing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2103120"/>
            <a:ext cx="685800" cy="685800"/>
          </a:xfrm>
          <a:prstGeom prst="ellipse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2677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71BE"/>
                </a:solidFill>
              </a:defRPr>
            </a:pPr>
            <a: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52044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B36"/>
                </a:solidFill>
              </a:defRPr>
            </a:pPr>
            <a:r>
              <a:t>Remove unusable labels and leakage-prone / redundant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28800"/>
            <a:ext cx="1965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8728" y="2103120"/>
            <a:ext cx="685800" cy="685800"/>
          </a:xfrm>
          <a:prstGeom prst="ellipse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22677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BED2"/>
                </a:solidFill>
              </a:defRPr>
            </a:pPr>
            <a: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352044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B36"/>
                </a:solidFill>
              </a:defRPr>
            </a:pPr>
            <a:r>
              <a:t>Impute, encode categories, standardize numeric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828800"/>
            <a:ext cx="1965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43016" y="2103120"/>
            <a:ext cx="685800" cy="685800"/>
          </a:xfrm>
          <a:prstGeom prst="ellipse">
            <a:avLst/>
          </a:prstGeom>
          <a:solidFill>
            <a:srgbClr val="1D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43016" y="22677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9691"/>
                </a:solidFill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52044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B36"/>
                </a:solidFill>
              </a:defRPr>
            </a:pPr>
            <a:r>
              <a:t>Train five different classification families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828800"/>
            <a:ext cx="1965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47304" y="2103120"/>
            <a:ext cx="685800" cy="685800"/>
          </a:xfrm>
          <a:prstGeom prst="ellipse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47304" y="22677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8C39"/>
                </a:solidFill>
              </a:defRPr>
            </a:pPr>
            <a:r>
              <a:t>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52044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B36"/>
                </a:solidFill>
              </a:defRPr>
            </a:pPr>
            <a:r>
              <a:t>Grid + randomized search, 5-fold CV, scored on 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1828800"/>
            <a:ext cx="19659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51592" y="2103120"/>
            <a:ext cx="685800" cy="685800"/>
          </a:xfrm>
          <a:prstGeom prst="ellipse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51592" y="22677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9969"/>
                </a:solidFill>
              </a:defRPr>
            </a:pPr>
            <a: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520440"/>
            <a:ext cx="1554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B36"/>
                </a:solidFill>
              </a:defRPr>
            </a:pPr>
            <a:r>
              <a:t>Save pipeline and serve predictions through 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Data Preparation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The final pipeline keeps useful signal while reducing leakage and encoding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Target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ACCLASS → Fatal = 1; other usable outcomes = 0. Blank target row removed.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417320"/>
          </a:xfrm>
          <a:prstGeom prst="rect">
            <a:avLst/>
          </a:prstGeom>
          <a:solidFill>
            <a:srgbClr val="1D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9691"/>
                </a:solidFill>
              </a:defRPr>
            </a:pPr>
            <a:r>
              <a:t>Time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3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Raw TIME is converted to HOUR (0–23) instead of one-hot encoding 1,341 time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73152" cy="141732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733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3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Categorical: most-frequent + one-hot. Numeric: median imputation + standardization.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037"/>
                </a:solidFill>
              </a:defRPr>
            </a:pPr>
            <a:r>
              <a:t>Important removals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5120640" cy="192024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B36"/>
                </a:solidFill>
              </a:defRPr>
            </a:pPr>
            <a:r>
              <a:t>Identifiers / redundant fields: INDEX, ACCNUM, OBJECTID, OFFSET and duplicate location fields</a:t>
            </a:r>
          </a:p>
          <a:p>
            <a:pPr>
              <a:spcAft>
                <a:spcPts val="500"/>
              </a:spcAft>
              <a:defRPr sz="1400">
                <a:solidFill>
                  <a:srgbClr val="212B36"/>
                </a:solidFill>
              </a:defRPr>
            </a:pPr>
            <a:r>
              <a:t>High-cardinality raw fields such as STREET1, STREET2, DATE and TIME</a:t>
            </a:r>
          </a:p>
          <a:p>
            <a:pPr>
              <a:spcAft>
                <a:spcPts val="500"/>
              </a:spcAft>
              <a:defRPr sz="1400">
                <a:solidFill>
                  <a:srgbClr val="212B36"/>
                </a:solidFill>
              </a:defRPr>
            </a:pPr>
            <a:r>
              <a:t>Structurally sparse pedestrian / cyclist detail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37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037"/>
                </a:solidFill>
              </a:defRPr>
            </a:pPr>
            <a:r>
              <a:t>Train / test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9476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794760"/>
            <a:ext cx="73152" cy="132588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95935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15,164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68371"/>
            <a:ext cx="20116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80% stratified split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79476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23960" y="3794760"/>
            <a:ext cx="73152" cy="132588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95935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3891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3,792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889886"/>
            <a:ext cx="20116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20% stratified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Critical Finding: Target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BE4EF"/>
                </a:solidFill>
              </a:defRPr>
            </a:pPr>
            <a:r>
              <a:t>The team found and corrected a feature that made early results look unrealistically strong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INJURY was effectively revealing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BE4EF"/>
                </a:solidFill>
              </a:defRPr>
            </a:pPr>
            <a:r>
              <a:t>When INJURY = "Fatal", it matched ACCLASS = "Fatal" in 974 of 975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141732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4848"/>
                </a:solidFill>
              </a:defRPr>
            </a:pPr>
            <a:r>
              <a:t>Why this is a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The model would learn a near-copy of the target instead of genuine predictive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063240"/>
            <a:ext cx="73152" cy="141732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22783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0332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INJURY was removed from the final feature set, alongside FATAL_NO. All valid final results use the corrected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BED2"/>
                </a:solidFill>
              </a:defRPr>
            </a:pPr>
            <a:r>
              <a:t>Result: lower—but more honest and defensible—performance.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The Five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Different model families were compared instead of choosing one algorithm in advance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73152" cy="324612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554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Linear probabilistic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4592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8648" y="1645920"/>
            <a:ext cx="73152" cy="3246120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27248" y="1810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BED2"/>
                </a:solidFill>
              </a:defRPr>
            </a:pPr>
            <a:r>
              <a:t>Linear</a:t>
            </a:r>
            <a:br/>
            <a:r>
              <a:t>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286000"/>
            <a:ext cx="1554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Large-margin linear classifier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64592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02936" y="1645920"/>
            <a:ext cx="73152" cy="324612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31536" y="1810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Decision</a:t>
            </a:r>
            <a:br/>
            <a:r>
              <a:t>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286000"/>
            <a:ext cx="1554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Nonlinear rule-based splits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64592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07224" y="1645920"/>
            <a:ext cx="73152" cy="324612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35824" y="1810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286000"/>
            <a:ext cx="1554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Ensemble of many trees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64592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11512" y="1645920"/>
            <a:ext cx="73152" cy="324612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40112" y="1810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4848"/>
                </a:solidFill>
              </a:defRPr>
            </a:pPr>
            <a:r>
              <a:t>Neural</a:t>
            </a:r>
            <a:br/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286000"/>
            <a:ext cx="1554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MLP nonlinear representation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037"/>
                </a:solidFill>
              </a:defRPr>
            </a:pPr>
            <a:r>
              <a:t>Class balancing was used where supported to make the minority fatal class harder to ignore.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Final Tuned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Corrected pipeline • Grid / randomized search • 5-fold CV • selection prioritized recall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5087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75320" y="1508760"/>
            <a:ext cx="73152" cy="141732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673351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1060" y="1842515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rPr dirty="0"/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679191"/>
            <a:ext cx="2834639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Highest recall; edges Linear SVM on F1.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54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3154680"/>
            <a:ext cx="73152" cy="141732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31927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Final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4904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64.8%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325112"/>
            <a:ext cx="2834639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Caught about 64.8% of real fatal cases.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8920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C = 0.1</a:t>
            </a:r>
            <a:br/>
            <a:r>
              <a:t>class_weight = 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Logistic Regression Won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BE4EF"/>
                </a:solidFill>
              </a:defRPr>
            </a:pPr>
            <a:r>
              <a:t>The goal was not the highest single accuracy number—it was catching fatal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164592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68.5%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Final tuned test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55448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98648" y="1554480"/>
            <a:ext cx="73152" cy="164592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7248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148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25.6%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Final tuned test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55448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02936" y="1554480"/>
            <a:ext cx="73152" cy="164592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148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64.8%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Final tuned test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55448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07224" y="1554480"/>
            <a:ext cx="73152" cy="1645920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4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BED2"/>
                </a:solidFill>
              </a:defRPr>
            </a:pPr>
            <a: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2148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36.7%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Final tuned test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155448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11512" y="1554480"/>
            <a:ext cx="73152" cy="164592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4848"/>
                </a:solidFill>
              </a:defRPr>
            </a:pPr>
            <a: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148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72.2%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Final tuned test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703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BED2"/>
                </a:solidFill>
              </a:defRPr>
            </a:pPr>
            <a:r>
              <a:t>Decision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160520"/>
            <a:ext cx="5303520" cy="160020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Logistic Regression and Linear SVM tied on recall at 0.648.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Logistic Regression had a slightly higher F1-score.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Other models missed more true fatal cases.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BED2"/>
                </a:solidFill>
              </a:defRPr>
            </a:pPr>
            <a:r>
              <a:t>Important nuance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60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4EF"/>
                </a:solidFill>
              </a:defRPr>
            </a:pPr>
            <a:r>
              <a:t>The Neural Network had the best ROC-AUC (0.792), suggesting threshold tuning could be interesting future work even though its default-threshold recall was lower.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The selected preprocessing + classifier pipeline is saved and served through 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103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73152" cy="182880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User /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1691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Collision attributes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65960"/>
            <a:ext cx="2103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1965960"/>
            <a:ext cx="73152" cy="1828800"/>
          </a:xfrm>
          <a:prstGeom prst="rect">
            <a:avLst/>
          </a:prstGeom>
          <a:solidFill>
            <a:srgbClr val="1D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13055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9691"/>
                </a:solidFill>
              </a:defRPr>
            </a:pPr>
            <a:r>
              <a:t>Flask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06039"/>
            <a:ext cx="1691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POST /predict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965960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0" y="1965960"/>
            <a:ext cx="73152" cy="182880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130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Saved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06039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final_model.pkl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96596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0" y="1965960"/>
            <a:ext cx="73152" cy="182880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06039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12B36"/>
                </a:solidFill>
              </a:defRPr>
            </a:pPr>
            <a:r>
              <a:t>FATAL / NOT FATAL</a:t>
            </a:r>
            <a:br/>
            <a:r>
              <a:t>+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578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037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578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037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78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037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037"/>
                </a:solidFill>
              </a:defRPr>
            </a:pPr>
            <a:r>
              <a:t>The same preprocessing logic used during training is applied to live inputs before prediction.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77380"/>
                </a:solidFill>
              </a:defRPr>
            </a:pPr>
            <a:r>
              <a:t>Verified end-to-end with Flask's test client.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 Prediction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BE4EF"/>
                </a:solidFill>
              </a:defRPr>
            </a:pPr>
            <a:r>
              <a:t>A simple API request becomes a fatality-risk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BED2"/>
                </a:solidFill>
              </a:defRPr>
            </a:pPr>
            <a:r>
              <a:t>Example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846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urier New"/>
              </a:defRPr>
            </a:pPr>
            <a:r>
              <a:t>{</a:t>
            </a:r>
            <a:br/>
            <a:r>
              <a:t>  "DISTRICT": "Scarborough",</a:t>
            </a:r>
            <a:br/>
            <a:r>
              <a:t>  "LIGHT": "Dark",</a:t>
            </a:r>
            <a:br/>
            <a:r>
              <a:t>  "HOUR": 5,</a:t>
            </a:r>
            <a:br/>
            <a:r>
              <a:t>  "SPEEDING": "Yes"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5603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7BED2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74519"/>
            <a:ext cx="4480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73152" cy="251460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2039112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Verified high-risk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468879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73.3%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044952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The deployed app returned a FATAL prediction with an estimated probability of 73.3%.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4EF"/>
                </a:solidFill>
              </a:defRPr>
            </a:pPr>
            <a:r>
              <a:t>Note: balanced class weights improve minority-class sensitivity but mean predicted probabilities should not be interpreted as perfectly calibrated real-world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Key Findings from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Exploratory patterns helped frame the modelling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0020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782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rPr dirty="0"/>
              <a:t>26.6%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98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5 AM had a 26.6% fatal rate in the exploratory data (smaller sample).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73152" cy="1600200"/>
          </a:xfrm>
          <a:prstGeom prst="rect">
            <a:avLst/>
          </a:prstGeom>
          <a:solidFill>
            <a:srgbClr val="1D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673351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9691"/>
                </a:solidFill>
              </a:defRPr>
            </a:pPr>
            <a:r>
              <a:t>District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1984782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rPr dirty="0"/>
              <a:t>18.4%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2476137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Scarborough showed a higher fatal rate than Toronto &amp; East York.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73152" cy="160020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673351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Speeding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1984782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21.8%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246484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Records with speeding showed a higher fatal rate than the overall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50876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1508760"/>
            <a:ext cx="73152" cy="1600200"/>
          </a:xfrm>
          <a:prstGeom prst="rect">
            <a:avLst/>
          </a:prstGeom>
          <a:solidFill>
            <a:srgbClr val="CD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673351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4848"/>
                </a:solidFill>
              </a:defRPr>
            </a:pPr>
            <a:r>
              <a:t>Truck involvement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45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rPr dirty="0"/>
              <a:t>29.17%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1140" y="2496312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rPr dirty="0"/>
              <a:t>Truck-flagged records had more than double the overall fatal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037"/>
                </a:solidFill>
              </a:defRPr>
            </a:pPr>
            <a:r>
              <a:t>These are single-variable associations, not proof of causation.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617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7380"/>
                </a:solidFill>
              </a:defRPr>
            </a:pPr>
            <a:r>
              <a:t>The machine-learning models combine many features simultaneously to estimate the fatal / non-fatal class.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7"/>
                </a:solidFill>
              </a:defRPr>
            </a:pPr>
            <a:r>
              <a:t>Limitations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380"/>
                </a:solidFill>
              </a:defRPr>
            </a:pPr>
            <a:r>
              <a:t>The project is functional, but there are clear ways to make the modelling more rigorous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D4848"/>
                </a:solidFill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120640" cy="329184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B36"/>
                </a:solidFill>
              </a:defRPr>
            </a:pPr>
            <a:r>
              <a:t>Dataset is per-person, not per-collision; the same collision can appear in multiple rows.</a:t>
            </a:r>
          </a:p>
          <a:p>
            <a:pPr>
              <a:spcAft>
                <a:spcPts val="1000"/>
              </a:spcAft>
              <a:defRPr sz="1500">
                <a:solidFill>
                  <a:srgbClr val="212B36"/>
                </a:solidFill>
              </a:defRPr>
            </a:pPr>
            <a:r>
              <a:t>Fatal cases are a minority, creating a recall / precision trade-off.</a:t>
            </a:r>
          </a:p>
          <a:p>
            <a:pPr>
              <a:spcAft>
                <a:spcPts val="1000"/>
              </a:spcAft>
              <a:defRPr sz="1500">
                <a:solidFill>
                  <a:srgbClr val="212B36"/>
                </a:solidFill>
              </a:defRPr>
            </a:pPr>
            <a:r>
              <a:t>Some raw fields are structurally missing or intentionally privacy-offset.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A9969"/>
                </a:solidFill>
              </a:defRPr>
            </a:pPr>
            <a:r>
              <a:t>Next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029200" cy="347472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12B36"/>
                </a:solidFill>
              </a:defRPr>
            </a:pPr>
            <a:r>
              <a:t>Aggregate to one row per collision before splitting.</a:t>
            </a:r>
          </a:p>
          <a:p>
            <a:pPr>
              <a:spcAft>
                <a:spcPts val="900"/>
              </a:spcAft>
              <a:defRPr sz="1500">
                <a:solidFill>
                  <a:srgbClr val="212B36"/>
                </a:solidFill>
              </a:defRPr>
            </a:pPr>
            <a:r>
              <a:t>Explore probability calibration and alternative decision thresholds.</a:t>
            </a:r>
          </a:p>
          <a:p>
            <a:pPr>
              <a:spcAft>
                <a:spcPts val="900"/>
              </a:spcAft>
              <a:defRPr sz="1500">
                <a:solidFill>
                  <a:srgbClr val="212B36"/>
                </a:solidFill>
              </a:defRPr>
            </a:pPr>
            <a:r>
              <a:t>Use broader hyperparameter searches and additional validation.</a:t>
            </a:r>
          </a:p>
          <a:p>
            <a:pPr>
              <a:spcAft>
                <a:spcPts val="900"/>
              </a:spcAft>
              <a:defRPr sz="1500">
                <a:solidFill>
                  <a:srgbClr val="212B36"/>
                </a:solidFill>
              </a:defRPr>
            </a:pPr>
            <a:r>
              <a:t>Evaluate performance across districts / conditions for fairness and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3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37BED2"/>
                </a:solidFill>
              </a:defRPr>
            </a:pPr>
            <a:r>
              <a:t>A complete machine-learning workflow—from Toronto KSI data to a working prediction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4612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3246120"/>
            <a:ext cx="73152" cy="1508760"/>
          </a:xfrm>
          <a:prstGeom prst="rect">
            <a:avLst/>
          </a:prstGeom>
          <a:solidFill>
            <a:srgbClr val="26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341071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71BE"/>
                </a:solidFill>
              </a:defRPr>
            </a:pPr>
            <a:r>
              <a:t>Best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84048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C = 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416552"/>
            <a:ext cx="201167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324612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3246120"/>
            <a:ext cx="73152" cy="1508760"/>
          </a:xfrm>
          <a:prstGeom prst="rect">
            <a:avLst/>
          </a:prstGeom>
          <a:solidFill>
            <a:srgbClr val="3A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341071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9969"/>
                </a:solidFill>
              </a:defRPr>
            </a:pPr>
            <a:r>
              <a:t>Primary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84048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64.8%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16552"/>
            <a:ext cx="201167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Fatal-class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24612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3246120"/>
            <a:ext cx="73152" cy="1508760"/>
          </a:xfrm>
          <a:prstGeom prst="rect">
            <a:avLst/>
          </a:prstGeom>
          <a:solidFill>
            <a:srgbClr val="EC8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3410712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8C39"/>
                </a:solidFill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84048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2037"/>
                </a:solidFill>
              </a:defRPr>
            </a:pPr>
            <a:r>
              <a:t>/predict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416552"/>
            <a:ext cx="201167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77380"/>
                </a:solidFill>
              </a:defRPr>
            </a:pPr>
            <a:r>
              <a:t>Flask + saved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BE4EF"/>
                </a:solidFill>
              </a:defRPr>
            </a:pPr>
            <a:r>
              <a:t>Goal: support analysis of higher-risk collision conditions and better-informed traffic-safety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BED2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BE4EF"/>
                </a:solidFill>
              </a:defRPr>
            </a:pPr>
            <a:r>
              <a:t>KSI Fatal Collision Predictor • COMP 247 • Group 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BE4E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1240</Words>
  <Application>Microsoft Macintosh PowerPoint</Application>
  <PresentationFormat>Widescreen</PresentationFormat>
  <Paragraphs>212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Mohammadali Ghanavati</cp:lastModifiedBy>
  <cp:revision>2</cp:revision>
  <dcterms:created xsi:type="dcterms:W3CDTF">2013-01-27T09:14:16Z</dcterms:created>
  <dcterms:modified xsi:type="dcterms:W3CDTF">2026-08-16T19:23:22Z</dcterms:modified>
  <cp:category/>
</cp:coreProperties>
</file>